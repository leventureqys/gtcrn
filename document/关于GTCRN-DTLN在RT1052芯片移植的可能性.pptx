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ags" Target="../tags/tag9.xml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11350" y="2160905"/>
            <a:ext cx="83693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结论：</a:t>
            </a:r>
            <a:endParaRPr lang="zh-CN" altLang="en-US"/>
          </a:p>
          <a:p>
            <a:endParaRPr lang="zh-CN" altLang="en-US"/>
          </a:p>
          <a:p>
            <a:pPr indent="457200"/>
            <a:r>
              <a:rPr lang="en-US" altLang="zh-CN"/>
              <a:t>1. GTCRN-Stream</a:t>
            </a:r>
            <a:r>
              <a:rPr lang="zh-CN" altLang="en-US"/>
              <a:t>有替换</a:t>
            </a:r>
            <a:r>
              <a:rPr lang="en-US" altLang="zh-CN"/>
              <a:t>DeepFilter</a:t>
            </a:r>
            <a:r>
              <a:rPr lang="zh-CN" altLang="en-US"/>
              <a:t>的</a:t>
            </a:r>
            <a:r>
              <a:rPr lang="zh-CN" altLang="en-US"/>
              <a:t>能力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en-US" altLang="zh-CN"/>
              <a:t>2. GTCRN</a:t>
            </a:r>
            <a:r>
              <a:rPr lang="zh-CN" altLang="en-US"/>
              <a:t>比</a:t>
            </a:r>
            <a:r>
              <a:rPr lang="en-US" altLang="zh-CN"/>
              <a:t>DTLN</a:t>
            </a:r>
            <a:r>
              <a:rPr lang="zh-CN" altLang="en-US"/>
              <a:t>更有移植到超低算力的</a:t>
            </a:r>
            <a:r>
              <a:rPr lang="en-US" altLang="zh-CN"/>
              <a:t>MCU</a:t>
            </a:r>
            <a:r>
              <a:rPr lang="zh-CN" altLang="en-US"/>
              <a:t>平台的</a:t>
            </a:r>
            <a:r>
              <a:rPr lang="zh-CN" altLang="en-US"/>
              <a:t>潜力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en-US" altLang="zh-CN"/>
              <a:t>3. GTCRN</a:t>
            </a:r>
            <a:r>
              <a:rPr lang="zh-CN" altLang="en-US"/>
              <a:t>有移植到</a:t>
            </a:r>
            <a:r>
              <a:rPr lang="en-US" altLang="zh-CN"/>
              <a:t>NXP RT1052</a:t>
            </a:r>
            <a:r>
              <a:rPr lang="zh-CN" altLang="en-US"/>
              <a:t>芯片上的</a:t>
            </a:r>
            <a:r>
              <a:rPr lang="zh-CN" altLang="en-US"/>
              <a:t>可能性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367915" y="2674620"/>
          <a:ext cx="4794885" cy="275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855"/>
                <a:gridCol w="3161030"/>
              </a:tblGrid>
              <a:tr h="4781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规格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数值</a:t>
                      </a:r>
                      <a:endParaRPr lang="zh-CN" altLang="en-US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ARM Cortex-M7</a:t>
                      </a:r>
                      <a:endParaRPr lang="zh-CN" altLang="en-US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主频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528 MHz (最高600MHz)</a:t>
                      </a:r>
                      <a:endParaRPr lang="zh-CN" alt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SRAM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512 KB</a:t>
                      </a:r>
                      <a:endParaRPr lang="zh-CN" altLang="en-US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理论峰值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~500 MMAC/s (单精度)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289810" y="2182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目标芯片</a:t>
            </a:r>
            <a:r>
              <a:rPr lang="en-US" altLang="zh-CN"/>
              <a:t>nxp rt1052 </a:t>
            </a:r>
            <a:r>
              <a:rPr lang="zh-CN" altLang="en-US"/>
              <a:t>规格：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1. </a:t>
            </a:r>
            <a:r>
              <a:rPr lang="zh-CN" altLang="en-US"/>
              <a:t>为什么是</a:t>
            </a:r>
            <a:r>
              <a:rPr lang="en-US" altLang="zh-CN"/>
              <a:t>GTCRN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40690" y="2034540"/>
          <a:ext cx="9766935" cy="3512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210"/>
                <a:gridCol w="3883025"/>
                <a:gridCol w="3949700"/>
              </a:tblGrid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48.2K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包含ERB模块的不可学习参数</a:t>
                      </a:r>
                      <a:endParaRPr lang="zh-CN" altLang="en-US"/>
                    </a:p>
                  </a:txBody>
                  <a:tcPr/>
                </a:tc>
              </a:tr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模型权重内存	</a:t>
                      </a:r>
                      <a:endParaRPr lang="zh-CN" altLang="en-US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~193 KB (FP32) / ~96 KB (FP16)</a:t>
                      </a:r>
                      <a:endParaRPr lang="zh-CN" altLang="en-US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48.2K × 4 bytes</a:t>
                      </a:r>
                      <a:endParaRPr lang="zh-CN" altLang="en-US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8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Cache内存	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~17 KB (FP32)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conv_cache + tra_cache + inter_cache</a:t>
                      </a:r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实时计算量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33.0 MMACs/s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每秒3300万次乘加运算</a:t>
                      </a:r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每帧MMACs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0.528 MMACs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33.0 / 62.5帧 (16ms帧移)</a:t>
                      </a:r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所需核心频率</a:t>
                      </a:r>
                      <a:endParaRPr lang="zh-CN" altLang="en-US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~10-15 MHz (理论) / ~50-80 MHz (实际)</a:t>
                      </a:r>
                      <a:endParaRPr lang="zh-CN" altLang="en-US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考虑内存访问、非MAC操作等开销</a:t>
                      </a:r>
                      <a:endParaRPr lang="zh-CN" altLang="en-US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32130" y="1494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GTCRN </a:t>
            </a:r>
            <a:r>
              <a:rPr lang="zh-CN" altLang="en-US"/>
              <a:t>资源</a:t>
            </a:r>
            <a:r>
              <a:rPr lang="zh-CN" altLang="en-US"/>
              <a:t>需要：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6745" y="5880735"/>
            <a:ext cx="8760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综上对比</a:t>
            </a:r>
            <a:r>
              <a:rPr lang="en-US" altLang="zh-CN">
                <a:highlight>
                  <a:srgbClr val="FFFF00"/>
                </a:highlight>
              </a:rPr>
              <a:t>NXP RT1052</a:t>
            </a:r>
            <a:r>
              <a:rPr lang="zh-CN" altLang="en-US">
                <a:highlight>
                  <a:srgbClr val="FFFF00"/>
                </a:highlight>
              </a:rPr>
              <a:t>的芯片。不论是内存开销，还是主频开销，都是可以满足需求的。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1. </a:t>
            </a:r>
            <a:r>
              <a:rPr lang="zh-CN" altLang="en-US"/>
              <a:t>为什么是</a:t>
            </a:r>
            <a:r>
              <a:rPr lang="en-US" altLang="zh-CN"/>
              <a:t>GTCRN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6745" y="1048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同期，另一种超低资源的</a:t>
            </a:r>
            <a:r>
              <a:rPr lang="en-US" altLang="zh-CN"/>
              <a:t>AI</a:t>
            </a:r>
            <a:r>
              <a:rPr lang="zh-CN" altLang="en-US"/>
              <a:t>降噪</a:t>
            </a:r>
            <a:r>
              <a:rPr lang="zh-CN" altLang="en-US"/>
              <a:t>算法：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6745" y="140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DTLN</a:t>
            </a:r>
            <a:r>
              <a:rPr lang="zh-CN" altLang="en-US"/>
              <a:t>资源</a:t>
            </a:r>
            <a:r>
              <a:rPr lang="zh-CN" altLang="en-US"/>
              <a:t>开销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54990" y="1778000"/>
          <a:ext cx="10537190" cy="3512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210"/>
                <a:gridCol w="3883025"/>
                <a:gridCol w="4719955"/>
              </a:tblGrid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4826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参数量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~2.0M (约2百万)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两个LSTM模块，每个128单元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模型权重内存	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~8 MB (FP32) / ~4 MB (FP16)	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48.2K × 4 bytes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8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LSTM隐状态内存	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~4 KB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4个LSTM层 × 128单元 × 2(h,c) × 4 bytes</a:t>
                      </a:r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实时计算量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~300-400 MMACs/s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LSTM计算密集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每帧MMACs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~5-6 MMACs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基于32ms帧长、8ms帧移</a:t>
                      </a:r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所需核心频率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~10-15 MHz (理论) / ~50-80 MHz (实际)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考虑内存访问、非MAC操作等开销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216660" y="5602605"/>
            <a:ext cx="7335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0000"/>
                </a:highlight>
              </a:rPr>
              <a:t>在</a:t>
            </a:r>
            <a:r>
              <a:rPr lang="en-US" altLang="zh-CN">
                <a:highlight>
                  <a:srgbClr val="FF0000"/>
                </a:highlight>
              </a:rPr>
              <a:t>NXP RT1052</a:t>
            </a:r>
            <a:r>
              <a:rPr lang="zh-CN" altLang="en-US">
                <a:highlight>
                  <a:srgbClr val="FF0000"/>
                </a:highlight>
              </a:rPr>
              <a:t>平台上，不仅权重占用内存严重超支，对计算量要求也较高，挤压了此芯片基本功能。</a:t>
            </a:r>
            <a:endParaRPr lang="zh-CN" altLang="en-US">
              <a:highlight>
                <a:srgbClr val="FF0000"/>
              </a:highlight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1. </a:t>
            </a:r>
            <a:r>
              <a:rPr lang="zh-CN" altLang="en-US"/>
              <a:t>为什么是</a:t>
            </a:r>
            <a:r>
              <a:rPr lang="en-US" altLang="zh-CN"/>
              <a:t>GTCRN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2. GTCRN</a:t>
            </a:r>
            <a:r>
              <a:rPr lang="zh-CN" altLang="en-US"/>
              <a:t>效果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0205" y="1069975"/>
            <a:ext cx="551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不逊色于大型模型的语音质量评价</a:t>
            </a:r>
            <a:r>
              <a:rPr lang="zh-CN" altLang="en-US"/>
              <a:t>指标：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5750" y="1710055"/>
            <a:ext cx="5514975" cy="24860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19190" y="9315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超高的</a:t>
            </a:r>
            <a:r>
              <a:rPr lang="en-US" altLang="zh-CN"/>
              <a:t>DNS3</a:t>
            </a:r>
            <a:r>
              <a:rPr lang="zh-CN" altLang="en-US"/>
              <a:t>评价指标，除了客观指标，主观指标依旧</a:t>
            </a:r>
            <a:r>
              <a:rPr lang="zh-CN" altLang="en-US"/>
              <a:t>过硬：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90590" y="1891030"/>
            <a:ext cx="5545455" cy="1537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30" y="4293870"/>
            <a:ext cx="565912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 SISNR:</a:t>
            </a:r>
            <a:r>
              <a:rPr lang="zh-CN" altLang="en-US" sz="1400"/>
              <a:t>尺度不变信噪比，反应目标信号与噪声的分离程度。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/>
              <a:t>2.PESQ:</a:t>
            </a:r>
            <a:r>
              <a:rPr lang="zh-CN" altLang="en-US" sz="1400"/>
              <a:t>语音质量感知评价，对比原始参考语音和处理后的测试语音，模拟人耳听觉感知特征输出的</a:t>
            </a:r>
            <a:r>
              <a:rPr lang="en-US" altLang="zh-CN" sz="1400"/>
              <a:t> </a:t>
            </a:r>
            <a:r>
              <a:rPr lang="zh-CN" altLang="en-US" sz="1400"/>
              <a:t>综合分数。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/>
              <a:t>3.STOI:</a:t>
            </a:r>
            <a:r>
              <a:rPr lang="zh-CN" altLang="en-US" sz="1400"/>
              <a:t>短时客观可懂度，聚焦于语音的可懂度而非整体音质，衡量语音内容被正确识别的</a:t>
            </a:r>
            <a:r>
              <a:rPr lang="zh-CN" altLang="en-US" sz="1400"/>
              <a:t>程度。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6085840" y="3618230"/>
            <a:ext cx="54495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 DNSMOS - P.808</a:t>
            </a:r>
            <a:r>
              <a:rPr lang="zh-CN" altLang="en-US" sz="1400"/>
              <a:t>：基于 ITU - T P.808 标准的语音质量评分指标</a:t>
            </a:r>
            <a:r>
              <a:rPr lang="en-US" altLang="zh-CN" sz="1400"/>
              <a:t> 该指标通过众包主观测试框架，让评分者对音频片段进行质量打分。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剩余三个指标为主观评分</a:t>
            </a:r>
            <a:r>
              <a:rPr lang="zh-CN" altLang="en-US" sz="1400"/>
              <a:t>细则：</a:t>
            </a:r>
            <a:endParaRPr lang="zh-CN" altLang="en-US" sz="1400"/>
          </a:p>
          <a:p>
            <a:r>
              <a:rPr lang="zh-CN" altLang="en-US" sz="1400"/>
              <a:t>SIG（Signal Distortion）：是否存在失真、畸变。</a:t>
            </a:r>
            <a:endParaRPr lang="zh-CN" altLang="en-US" sz="1400"/>
          </a:p>
          <a:p>
            <a:r>
              <a:rPr lang="zh-CN" altLang="en-US" sz="1400"/>
              <a:t>BAK（Background noise intrusiveness）：用于评估背景噪声的干扰程度。</a:t>
            </a:r>
            <a:endParaRPr lang="zh-CN" altLang="en-US" sz="1400"/>
          </a:p>
          <a:p>
            <a:r>
              <a:rPr lang="zh-CN" altLang="en-US" sz="1400"/>
              <a:t>OVRL（Overall Quality）：整体语音质量得分。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2. GTCRN</a:t>
            </a:r>
            <a:r>
              <a:rPr lang="zh-CN" altLang="en-US"/>
              <a:t>效果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0055" y="878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实测对抗瞬态噪声频谱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440055" y="2058035"/>
            <a:ext cx="3884295" cy="3411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40055" y="1468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原声：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07480" y="1468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处理</a:t>
            </a:r>
            <a:r>
              <a:rPr lang="zh-CN" altLang="en-US"/>
              <a:t>后：</a:t>
            </a:r>
            <a:endParaRPr lang="zh-CN" altLang="en-US"/>
          </a:p>
        </p:txBody>
      </p:sp>
      <p:pic>
        <p:nvPicPr>
          <p:cNvPr id="9" name="图片 8" descr="企业微信截图_176576897934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80" y="2266315"/>
            <a:ext cx="5184140" cy="2995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3. </a:t>
            </a:r>
            <a:r>
              <a:rPr lang="zh-CN" altLang="en-US"/>
              <a:t>工作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5465" y="1022985"/>
            <a:ext cx="6048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GTCRN</a:t>
            </a:r>
            <a:r>
              <a:rPr lang="zh-CN" altLang="en-US"/>
              <a:t>网络核心结构：</a:t>
            </a:r>
            <a:r>
              <a:rPr lang="en-US" altLang="zh-CN"/>
              <a:t> </a:t>
            </a:r>
            <a:r>
              <a:rPr lang="zh-CN" altLang="en-US"/>
              <a:t>太长了，这里</a:t>
            </a:r>
            <a:r>
              <a:rPr lang="zh-CN" altLang="en-US"/>
              <a:t>摆不下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3885" y="1482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整体</a:t>
            </a:r>
            <a:r>
              <a:rPr lang="zh-CN" altLang="en-US"/>
              <a:t>数据流：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898015" y="2153285"/>
            <a:ext cx="142176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带噪</a:t>
            </a:r>
            <a:r>
              <a:rPr lang="zh-CN" altLang="en-US"/>
              <a:t>音频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705225" y="215328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STFT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5005070" y="2153285"/>
            <a:ext cx="168084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ERB</a:t>
            </a:r>
            <a:r>
              <a:rPr lang="zh-CN" altLang="en-US"/>
              <a:t>子带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071360" y="2153285"/>
            <a:ext cx="135826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SFE</a:t>
            </a:r>
            <a:r>
              <a:rPr lang="zh-CN" altLang="en-US"/>
              <a:t>特征提取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15070" y="2153285"/>
            <a:ext cx="11499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Encoder</a:t>
            </a:r>
            <a:endParaRPr lang="en-US" altLang="zh-CN"/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8613775" y="3417570"/>
            <a:ext cx="135064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DPGRNNx2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7076440" y="34175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Decoder</a:t>
            </a:r>
            <a:endParaRPr lang="en-US" altLang="zh-CN"/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5539105" y="34175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掩码</a:t>
            </a:r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2210435" y="3417570"/>
            <a:ext cx="1168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r>
              <a:rPr lang="zh-CN" altLang="en-US"/>
              <a:t>音频</a:t>
            </a:r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4001770" y="34175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iSTFT</a:t>
            </a:r>
            <a:endParaRPr lang="en-US" altLang="zh-CN"/>
          </a:p>
        </p:txBody>
      </p:sp>
      <p:sp>
        <p:nvSpPr>
          <p:cNvPr id="29" name="矩形 28"/>
          <p:cNvSpPr/>
          <p:nvPr>
            <p:custDataLst>
              <p:tags r:id="rId6"/>
            </p:custDataLst>
          </p:nvPr>
        </p:nvSpPr>
        <p:spPr>
          <a:xfrm>
            <a:off x="2210435" y="3417570"/>
            <a:ext cx="1168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r>
              <a:rPr lang="zh-CN" altLang="en-US"/>
              <a:t>音频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705225" y="215328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STFT</a:t>
            </a:r>
            <a:endParaRPr lang="en-US" altLang="zh-CN"/>
          </a:p>
        </p:txBody>
      </p:sp>
      <p:sp>
        <p:nvSpPr>
          <p:cNvPr id="31" name="矩形 30"/>
          <p:cNvSpPr/>
          <p:nvPr/>
        </p:nvSpPr>
        <p:spPr>
          <a:xfrm>
            <a:off x="5005070" y="2153285"/>
            <a:ext cx="168084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/>
              <a:t>ERB</a:t>
            </a:r>
            <a:r>
              <a:rPr lang="zh-CN" altLang="en-US"/>
              <a:t>子带</a:t>
            </a:r>
            <a:r>
              <a:rPr lang="zh-CN" altLang="en-US"/>
              <a:t>分析</a:t>
            </a:r>
            <a:endParaRPr lang="zh-CN" altLang="en-US"/>
          </a:p>
        </p:txBody>
      </p:sp>
      <p:cxnSp>
        <p:nvCxnSpPr>
          <p:cNvPr id="32" name="直接箭头连接符 31"/>
          <p:cNvCxnSpPr>
            <a:stCxn id="10" idx="3"/>
            <a:endCxn id="30" idx="1"/>
          </p:cNvCxnSpPr>
          <p:nvPr/>
        </p:nvCxnSpPr>
        <p:spPr>
          <a:xfrm>
            <a:off x="3319780" y="2610485"/>
            <a:ext cx="38544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30" idx="3"/>
            <a:endCxn id="31" idx="1"/>
          </p:cNvCxnSpPr>
          <p:nvPr/>
        </p:nvCxnSpPr>
        <p:spPr>
          <a:xfrm>
            <a:off x="4619625" y="2610485"/>
            <a:ext cx="38544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31" idx="3"/>
            <a:endCxn id="14" idx="1"/>
          </p:cNvCxnSpPr>
          <p:nvPr/>
        </p:nvCxnSpPr>
        <p:spPr>
          <a:xfrm>
            <a:off x="6685915" y="2610485"/>
            <a:ext cx="38544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4" idx="3"/>
            <a:endCxn id="15" idx="1"/>
          </p:cNvCxnSpPr>
          <p:nvPr/>
        </p:nvCxnSpPr>
        <p:spPr>
          <a:xfrm>
            <a:off x="8429625" y="2610485"/>
            <a:ext cx="38544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5" idx="2"/>
            <a:endCxn id="16" idx="0"/>
          </p:cNvCxnSpPr>
          <p:nvPr/>
        </p:nvCxnSpPr>
        <p:spPr>
          <a:xfrm flipH="1">
            <a:off x="9289415" y="3067685"/>
            <a:ext cx="100965" cy="3498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6" idx="1"/>
            <a:endCxn id="21" idx="3"/>
          </p:cNvCxnSpPr>
          <p:nvPr/>
        </p:nvCxnSpPr>
        <p:spPr>
          <a:xfrm flipH="1">
            <a:off x="7990840" y="3874770"/>
            <a:ext cx="6229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1" idx="1"/>
            <a:endCxn id="22" idx="3"/>
          </p:cNvCxnSpPr>
          <p:nvPr/>
        </p:nvCxnSpPr>
        <p:spPr>
          <a:xfrm flipH="1">
            <a:off x="6453505" y="3874770"/>
            <a:ext cx="6229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22" idx="1"/>
            <a:endCxn id="28" idx="3"/>
          </p:cNvCxnSpPr>
          <p:nvPr/>
        </p:nvCxnSpPr>
        <p:spPr>
          <a:xfrm flipH="1">
            <a:off x="4916170" y="3874770"/>
            <a:ext cx="6229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8" idx="1"/>
            <a:endCxn id="29" idx="3"/>
          </p:cNvCxnSpPr>
          <p:nvPr/>
        </p:nvCxnSpPr>
        <p:spPr>
          <a:xfrm flipH="1">
            <a:off x="3378835" y="3874770"/>
            <a:ext cx="6229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3. </a:t>
            </a:r>
            <a:r>
              <a:rPr lang="zh-CN" altLang="en-US"/>
              <a:t>工作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15135" y="12820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统计所需</a:t>
            </a:r>
            <a:r>
              <a:rPr lang="zh-CN" altLang="en-US"/>
              <a:t>算子：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715135" y="1650365"/>
          <a:ext cx="8532495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算子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矩阵乘法 (MatMul)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★★☆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Linear 层核心，需优化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Conv2d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★★★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支持 groups、dilation、不同 stride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ConvTranspose2d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★★★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转置卷积，注意 output padding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BatchNorm2d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★☆☆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推理时可融合进卷积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LayerNorm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★★☆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需要在线计算均值/方差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GRU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★★★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循环单元，需维护隐状态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PReLU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★☆☆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带学习参数的激活函数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Sigmoid/Tanh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★☆☆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可用查表或近似公式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0205" y="318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 3. </a:t>
            </a:r>
            <a:r>
              <a:rPr lang="zh-CN" altLang="en-US"/>
              <a:t>工作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5490" y="1052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特殊</a:t>
            </a:r>
            <a:r>
              <a:rPr lang="zh-CN" altLang="en-US"/>
              <a:t>操作层：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783590" y="1524000"/>
          <a:ext cx="853249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操作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移植难点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Unfold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滑动窗口提取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需理解内存布局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Channel Shuffle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通道重排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纯内存操作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StreamConv2d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带时序缓存的卷积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需要维护帧间缓存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Tensor Reshape/Permute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维度变换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核心难点之一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615d1d72-ec76-4f80-b6bd-e98f03847f51}"/>
  <p:tag name="TABLE_ENDDRAG_ORIGIN_RECT" val="377*217"/>
  <p:tag name="TABLE_ENDDRAG_RECT" val="74*116*377*217"/>
</p:tagLst>
</file>

<file path=ppt/tags/tag2.xml><?xml version="1.0" encoding="utf-8"?>
<p:tagLst xmlns:p="http://schemas.openxmlformats.org/presentationml/2006/main">
  <p:tag name="KSO_WM_UNIT_TABLE_BEAUTIFY" val="smartTable{46ab134b-6619-4daf-876c-ec35a93a2f57}"/>
  <p:tag name="TABLE_ENDDRAG_ORIGIN_RECT" val="769*190"/>
  <p:tag name="TABLE_ENDDRAG_RECT" val="14*277*769*190"/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TABLE_BEAUTIFY" val="smartTable{46ab134b-6619-4daf-876c-ec35a93a2f57}"/>
  <p:tag name="TABLE_ENDDRAG_ORIGIN_RECT" val="769*190"/>
  <p:tag name="TABLE_ENDDRAG_RECT" val="14*277*769*190"/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UNIT_TABLE_BEAUTIFY" val="smartTable{27f5ca1e-7b8a-44ca-a970-95e51ff323df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TABLE_BEAUTIFY" val="smartTable{b88fa87c-78e7-4539-92c7-49f12f74c044}"/>
</p:tagLst>
</file>

<file path=ppt/tags/tag21.xml><?xml version="1.0" encoding="utf-8"?>
<p:tagLst xmlns:p="http://schemas.openxmlformats.org/presentationml/2006/main">
  <p:tag name="COMMONDATA" val="eyJoZGlkIjoiMWQzMDFlYzlmNjJkMzI2NzgzMThhMjY2ZWQ5ODdlZD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1782</Words>
  <Application>WPS 演示</Application>
  <PresentationFormat>宽屏</PresentationFormat>
  <Paragraphs>281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wenxuan.li</cp:lastModifiedBy>
  <cp:revision>7</cp:revision>
  <dcterms:created xsi:type="dcterms:W3CDTF">2025-12-15T06:24:00Z</dcterms:created>
  <dcterms:modified xsi:type="dcterms:W3CDTF">2025-12-15T08:17:45Z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5248D386C65F40F39EC6B25CC651947F_12</vt:lpwstr>
  </property>
  <property fmtid="{D5CDD505-2E9C-101B-9397-08002B2CF9AE}" pid="3" name="KSOProductBuildVer">
    <vt:lpwstr>2052-11.1.0.14036</vt:lpwstr>
  </property>
</Properties>
</file>